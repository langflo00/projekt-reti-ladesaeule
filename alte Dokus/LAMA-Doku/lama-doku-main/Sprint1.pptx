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59" r:id="rId6"/>
    <p:sldId id="264" r:id="rId7"/>
    <p:sldId id="260" r:id="rId8"/>
    <p:sldId id="261" r:id="rId9"/>
    <p:sldId id="262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4572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9144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13716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18288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22860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27432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32004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36576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kumimoji="0" sz="3600" b="0" i="0" u="none" strike="noStrike" cap="none" spc="0" normalizeH="0" baseline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solidFill>
                <a:srgbClr val="4A4A4B"/>
              </a:solidFill>
              <a:prstDash val="solid"/>
              <a:miter lim="400000"/>
            </a:ln>
          </a:left>
          <a:right>
            <a:ln w="12700" cap="flat">
              <a:solidFill>
                <a:srgbClr val="4A4A4B"/>
              </a:solidFill>
              <a:prstDash val="solid"/>
              <a:miter lim="400000"/>
            </a:ln>
          </a:right>
          <a:top>
            <a:ln w="12700" cap="flat">
              <a:solidFill>
                <a:srgbClr val="4A4A4B"/>
              </a:solidFill>
              <a:prstDash val="solid"/>
              <a:miter lim="400000"/>
            </a:ln>
          </a:top>
          <a:bottom>
            <a:ln w="12700" cap="flat">
              <a:solidFill>
                <a:srgbClr val="4A4A4B"/>
              </a:solidFill>
              <a:prstDash val="solid"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4A4A4B"/>
              </a:solidFill>
              <a:prstDash val="solid"/>
              <a:miter lim="400000"/>
            </a:ln>
          </a:right>
          <a:top>
            <a:ln w="12700" cap="flat">
              <a:solidFill>
                <a:srgbClr val="4A4A4B"/>
              </a:solidFill>
              <a:prstDash val="solid"/>
              <a:miter lim="400000"/>
            </a:ln>
          </a:top>
          <a:bottom>
            <a:ln w="12700" cap="flat">
              <a:solidFill>
                <a:srgbClr val="4A4A4B"/>
              </a:solidFill>
              <a:prstDash val="solid"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solidFill>
                <a:srgbClr val="4A4A4B"/>
              </a:solidFill>
              <a:prstDash val="solid"/>
              <a:miter lim="400000"/>
            </a:ln>
          </a:left>
          <a:right>
            <a:ln w="12700" cap="flat">
              <a:solidFill>
                <a:srgbClr val="4A4A4B"/>
              </a:solidFill>
              <a:prstDash val="solid"/>
              <a:miter lim="400000"/>
            </a:ln>
          </a:right>
          <a:top>
            <a:ln w="25400" cap="flat">
              <a:solidFill>
                <a:srgbClr val="4A4A4B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solidFill>
                <a:srgbClr val="4A4A4B"/>
              </a:solidFill>
              <a:prstDash val="solid"/>
              <a:miter lim="400000"/>
            </a:ln>
          </a:left>
          <a:right>
            <a:ln w="12700" cap="flat">
              <a:solidFill>
                <a:srgbClr val="4A4A4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4A4A4B"/>
              </a:solidFill>
              <a:prstDash val="solid"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0EBE0"/>
              </a:solidFill>
              <a:prstDash val="solid"/>
              <a:miter lim="400000"/>
            </a:ln>
          </a:insideV>
        </a:tcBdr>
        <a:fill>
          <a:solidFill>
            <a:srgbClr val="54BAE0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right>
          <a:top>
            <a:ln w="254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0EBE0"/>
              </a:solidFill>
              <a:prstDash val="solid"/>
              <a:miter lim="400000"/>
            </a:ln>
          </a:left>
          <a:right>
            <a:ln w="12700" cap="flat">
              <a:solidFill>
                <a:srgbClr val="F0EBE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rgbClr val="F0EBE0"/>
              </a:solidFill>
              <a:prstDash val="solid"/>
              <a:miter lim="400000"/>
            </a:ln>
          </a:insideH>
          <a:insideV>
            <a:ln w="12700" cap="flat">
              <a:solidFill>
                <a:srgbClr val="F0EBE0"/>
              </a:solidFill>
              <a:prstDash val="solid"/>
              <a:miter lim="400000"/>
            </a:ln>
          </a:insideV>
        </a:tcBdr>
        <a:fill>
          <a:solidFill>
            <a:srgbClr val="54BAE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0EBE0"/>
          </a:solidFill>
        </a:fill>
      </a:tcStyle>
    </a:wholeTbl>
    <a:band2H>
      <a:tcTxStyle/>
      <a:tcStyle>
        <a:tcBdr/>
        <a:fill>
          <a:solidFill>
            <a:srgbClr val="D9D5CA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C6DFB5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F0EBE0"/>
          </a:solidFill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7A79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0EBE0"/>
          </a:solidFill>
        </a:fill>
      </a:tcStyle>
    </a:wholeTbl>
    <a:band2H>
      <a:tcTxStyle/>
      <a:tcStyle>
        <a:tcBdr/>
        <a:fill>
          <a:solidFill>
            <a:srgbClr val="E4E1D8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DAD7D3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0EBE0"/>
          </a:solidFill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34388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FEBE1"/>
          </a:solidFill>
        </a:fill>
      </a:tcStyle>
    </a:wholeTbl>
    <a:band2H>
      <a:tcTxStyle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D0CCC4"/>
          </a:solidFill>
        </a:fill>
      </a:tcStyle>
    </a:firstCol>
    <a:lastRow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5413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D0CCC4"/>
          </a:solidFill>
        </a:fill>
      </a:tcStyle>
    </a:firstCol>
    <a:lastRow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B7B5B1"/>
          </a:solidFill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B7B5B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20"/>
  </p:normalViewPr>
  <p:slideViewPr>
    <p:cSldViewPr snapToGrid="0">
      <p:cViewPr varScale="1">
        <p:scale>
          <a:sx n="57" d="100"/>
          <a:sy n="57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5" name="Shape 18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727200" y="1003300"/>
            <a:ext cx="20929600" cy="48260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sz="2000" b="1" cap="all" spc="0">
                <a:solidFill>
                  <a:srgbClr val="227AAF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14" name="Titel der Präsentation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 der Präsentation</a:t>
            </a:r>
          </a:p>
        </p:txBody>
      </p:sp>
      <p:sp>
        <p:nvSpPr>
          <p:cNvPr id="15" name="Textebene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Präsentationsuntertitel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pernhaus in Kopenhagen bei nächtlicher Beleuchtung vom anderen Ufer aus gesehen"/>
          <p:cNvSpPr>
            <a:spLocks noGrp="1"/>
          </p:cNvSpPr>
          <p:nvPr>
            <p:ph type="pic" idx="21"/>
          </p:nvPr>
        </p:nvSpPr>
        <p:spPr>
          <a:xfrm>
            <a:off x="-1" y="-2527300"/>
            <a:ext cx="24384001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27200" y="10718800"/>
            <a:ext cx="20929600" cy="2025650"/>
          </a:xfrm>
          <a:prstGeom prst="rect">
            <a:avLst/>
          </a:prstGeom>
        </p:spPr>
        <p:txBody>
          <a:bodyPr/>
          <a:lstStyle>
            <a:lvl1pPr>
              <a:spcBef>
                <a:spcPts val="2000"/>
              </a:spcBef>
              <a:defRPr>
                <a:solidFill>
                  <a:srgbClr val="F0EBE0"/>
                </a:solidFill>
              </a:defRPr>
            </a:lvl1pPr>
            <a:lvl2pPr>
              <a:spcBef>
                <a:spcPts val="2000"/>
              </a:spcBef>
              <a:defRPr>
                <a:solidFill>
                  <a:srgbClr val="F0EBE0"/>
                </a:solidFill>
              </a:defRPr>
            </a:lvl2pPr>
            <a:lvl3pPr indent="0">
              <a:spcBef>
                <a:spcPts val="2000"/>
              </a:spcBef>
              <a:defRPr>
                <a:solidFill>
                  <a:srgbClr val="F0EBE0"/>
                </a:solidFill>
              </a:defRPr>
            </a:lvl3pPr>
            <a:lvl4pPr indent="0">
              <a:spcBef>
                <a:spcPts val="2000"/>
              </a:spcBef>
              <a:defRPr>
                <a:solidFill>
                  <a:srgbClr val="F0EBE0"/>
                </a:solidFill>
              </a:defRPr>
            </a:lvl4pPr>
            <a:lvl5pPr indent="0">
              <a:spcBef>
                <a:spcPts val="2000"/>
              </a:spcBef>
              <a:defRPr>
                <a:solidFill>
                  <a:srgbClr val="F0EBE0"/>
                </a:solidFill>
              </a:defRPr>
            </a:lvl5pPr>
          </a:lstStyle>
          <a:p>
            <a:r>
              <a:t>Präsentationsuntertitel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1727200" y="7817246"/>
            <a:ext cx="20929600" cy="27999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Titel der Präsentation</a:t>
            </a:r>
          </a:p>
        </p:txBody>
      </p:sp>
      <p:sp>
        <p:nvSpPr>
          <p:cNvPr id="26" name="Autor:in und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727200" y="1003300"/>
            <a:ext cx="20929600" cy="48006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sz="2000" b="1" cap="all" spc="0">
                <a:solidFill>
                  <a:srgbClr val="F0EBE0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27" name="Linien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28" name="Linien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2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ängebrücke über dem Wasser bei Sonnenuntergang"/>
          <p:cNvSpPr>
            <a:spLocks noGrp="1"/>
          </p:cNvSpPr>
          <p:nvPr>
            <p:ph type="pic" idx="21"/>
          </p:nvPr>
        </p:nvSpPr>
        <p:spPr>
          <a:xfrm>
            <a:off x="-3352800" y="0"/>
            <a:ext cx="16002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7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z="8000" spc="-80"/>
            </a:lvl1pPr>
          </a:lstStyle>
          <a:p>
            <a:r>
              <a:t>Folientitel</a:t>
            </a:r>
          </a:p>
        </p:txBody>
      </p:sp>
      <p:sp>
        <p:nvSpPr>
          <p:cNvPr id="38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665200" y="7010400"/>
            <a:ext cx="9271000" cy="2312637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</a:lvl1pPr>
            <a:lvl2pPr algn="l">
              <a:lnSpc>
                <a:spcPct val="80000"/>
              </a:lnSpc>
            </a:lvl2pPr>
            <a:lvl3pPr algn="l">
              <a:lnSpc>
                <a:spcPct val="80000"/>
              </a:lnSpc>
            </a:lvl3pPr>
            <a:lvl4pPr algn="l">
              <a:lnSpc>
                <a:spcPct val="80000"/>
              </a:lnSpc>
            </a:lvl4pPr>
            <a:lvl5pPr algn="l">
              <a:lnSpc>
                <a:spcPct val="80000"/>
              </a:lnSpc>
            </a:lvl5pPr>
          </a:lstStyle>
          <a:p>
            <a:r>
              <a:t>Folien-Untertitel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9" name="Autor:in und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3665200" y="3746500"/>
            <a:ext cx="9271000" cy="482600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sz="2000" b="1" cap="all" spc="0">
                <a:solidFill>
                  <a:srgbClr val="227AAF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40" name="Linien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41" name="Linien"/>
          <p:cNvSpPr/>
          <p:nvPr/>
        </p:nvSpPr>
        <p:spPr>
          <a:xfrm>
            <a:off x="13665200" y="95250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4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727200" y="1739900"/>
            <a:ext cx="20929600" cy="3225356"/>
          </a:xfrm>
          <a:prstGeom prst="rect">
            <a:avLst/>
          </a:prstGeom>
        </p:spPr>
        <p:txBody>
          <a:bodyPr anchor="t"/>
          <a:lstStyle/>
          <a:p>
            <a:r>
              <a:t>Folientitel</a:t>
            </a:r>
          </a:p>
        </p:txBody>
      </p:sp>
      <p:sp>
        <p:nvSpPr>
          <p:cNvPr id="50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727200" y="1003300"/>
            <a:ext cx="20929600" cy="48260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sz="2000" b="1" cap="all" spc="0">
                <a:solidFill>
                  <a:srgbClr val="227AAF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51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27200" y="4965700"/>
            <a:ext cx="20929600" cy="6165850"/>
          </a:xfrm>
          <a:prstGeom prst="rect">
            <a:avLst/>
          </a:prstGeom>
        </p:spPr>
        <p:txBody>
          <a:bodyPr numCol="2" spcCol="1046480"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27200" y="4965700"/>
            <a:ext cx="20929600" cy="6165850"/>
          </a:xfrm>
          <a:prstGeom prst="rect">
            <a:avLst/>
          </a:prstGeom>
        </p:spPr>
        <p:txBody>
          <a:bodyPr numCol="2" spcCol="1046480"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657341" y="3084751"/>
            <a:ext cx="9271001" cy="4568826"/>
          </a:xfrm>
          <a:prstGeom prst="rect">
            <a:avLst/>
          </a:prstGeom>
        </p:spPr>
        <p:txBody>
          <a:bodyPr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" name="Hängebrücke über dem Wasser bei Sonnenuntergang"/>
          <p:cNvSpPr>
            <a:spLocks noGrp="1"/>
          </p:cNvSpPr>
          <p:nvPr>
            <p:ph type="pic" idx="21"/>
          </p:nvPr>
        </p:nvSpPr>
        <p:spPr>
          <a:xfrm>
            <a:off x="-3352800" y="0"/>
            <a:ext cx="16002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9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3665199" y="1680227"/>
            <a:ext cx="9271001" cy="2540001"/>
          </a:xfrm>
          <a:prstGeom prst="rect">
            <a:avLst/>
          </a:prstGeom>
        </p:spPr>
        <p:txBody>
          <a:bodyPr anchor="t"/>
          <a:lstStyle>
            <a:lvl1pPr algn="l">
              <a:defRPr sz="8000" spc="-80"/>
            </a:lvl1pPr>
          </a:lstStyle>
          <a:p>
            <a:r>
              <a:t>Folientitel</a:t>
            </a:r>
          </a:p>
        </p:txBody>
      </p:sp>
      <p:sp>
        <p:nvSpPr>
          <p:cNvPr id="7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Livevideo –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665200" y="7635875"/>
            <a:ext cx="9271000" cy="4568825"/>
          </a:xfrm>
          <a:prstGeom prst="rect">
            <a:avLst/>
          </a:prstGeom>
        </p:spPr>
        <p:txBody>
          <a:bodyPr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8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z="8000" spc="-80"/>
            </a:lvl1pPr>
          </a:lstStyle>
          <a:p>
            <a:r>
              <a:t>Folientitel</a:t>
            </a:r>
          </a:p>
        </p:txBody>
      </p:sp>
      <p:sp>
        <p:nvSpPr>
          <p:cNvPr id="79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3665200" y="3740611"/>
            <a:ext cx="9271000" cy="482601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sz="2000" b="1" cap="all" spc="0">
                <a:solidFill>
                  <a:srgbClr val="227AAF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80" name="Linien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81" name="Linien"/>
          <p:cNvSpPr/>
          <p:nvPr/>
        </p:nvSpPr>
        <p:spPr>
          <a:xfrm>
            <a:off x="13665200" y="70104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8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Livevideo –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665200" y="7635875"/>
            <a:ext cx="9271000" cy="4568825"/>
          </a:xfrm>
          <a:prstGeom prst="rect">
            <a:avLst/>
          </a:prstGeom>
        </p:spPr>
        <p:txBody>
          <a:bodyPr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Text für Folienpunkt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z="8000" spc="-80"/>
            </a:lvl1pPr>
          </a:lstStyle>
          <a:p>
            <a:r>
              <a:t>Folientitel</a:t>
            </a:r>
          </a:p>
        </p:txBody>
      </p:sp>
      <p:sp>
        <p:nvSpPr>
          <p:cNvPr id="91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3665200" y="3740611"/>
            <a:ext cx="9271000" cy="482601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sz="2000" b="1" cap="all" spc="0">
                <a:solidFill>
                  <a:srgbClr val="227AAF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92" name="Linien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93" name="Linien"/>
          <p:cNvSpPr/>
          <p:nvPr/>
        </p:nvSpPr>
        <p:spPr>
          <a:xfrm>
            <a:off x="13665200" y="70104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9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bschnitt">
    <p:bg>
      <p:bgPr>
        <a:solidFill>
          <a:srgbClr val="227A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des Abschnitts"/>
          <p:cNvSpPr txBox="1">
            <a:spLocks noGrp="1"/>
          </p:cNvSpPr>
          <p:nvPr>
            <p:ph type="title" hasCustomPrompt="1"/>
          </p:nvPr>
        </p:nvSpPr>
        <p:spPr>
          <a:xfrm>
            <a:off x="1727200" y="5410200"/>
            <a:ext cx="20929600" cy="2540000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t>Titel des Abschnitts</a:t>
            </a:r>
          </a:p>
        </p:txBody>
      </p:sp>
      <p:sp>
        <p:nvSpPr>
          <p:cNvPr id="102" name="Linien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103" name="Linien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10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lientitel"/>
          <p:cNvSpPr txBox="1">
            <a:spLocks noGrp="1"/>
          </p:cNvSpPr>
          <p:nvPr>
            <p:ph type="title" hasCustomPrompt="1"/>
          </p:nvPr>
        </p:nvSpPr>
        <p:spPr>
          <a:xfrm>
            <a:off x="1727200" y="1739900"/>
            <a:ext cx="20929600" cy="3229571"/>
          </a:xfrm>
          <a:prstGeom prst="rect">
            <a:avLst/>
          </a:prstGeom>
        </p:spPr>
        <p:txBody>
          <a:bodyPr anchor="t"/>
          <a:lstStyle/>
          <a:p>
            <a:r>
              <a:t>Folientitel</a:t>
            </a:r>
          </a:p>
        </p:txBody>
      </p:sp>
      <p:sp>
        <p:nvSpPr>
          <p:cNvPr id="112" name="Autor:in und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727200" y="1003300"/>
            <a:ext cx="20929600" cy="48260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sz="2000" b="1" cap="all" spc="0">
                <a:solidFill>
                  <a:srgbClr val="227AAF"/>
                </a:solidFill>
              </a:defRPr>
            </a:lvl1pPr>
          </a:lstStyle>
          <a:p>
            <a:r>
              <a:t>Autor:in und Datum</a:t>
            </a:r>
          </a:p>
        </p:txBody>
      </p:sp>
      <p:sp>
        <p:nvSpPr>
          <p:cNvPr id="1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Agenda-Titel"/>
          <p:cNvSpPr txBox="1">
            <a:spLocks noGrp="1"/>
          </p:cNvSpPr>
          <p:nvPr>
            <p:ph type="title" hasCustomPrompt="1"/>
          </p:nvPr>
        </p:nvSpPr>
        <p:spPr>
          <a:xfrm>
            <a:off x="1727200" y="1739900"/>
            <a:ext cx="20929600" cy="3300115"/>
          </a:xfrm>
          <a:prstGeom prst="rect">
            <a:avLst/>
          </a:prstGeom>
        </p:spPr>
        <p:txBody>
          <a:bodyPr anchor="t"/>
          <a:lstStyle/>
          <a:p>
            <a:r>
              <a:t>Agenda-Titel</a:t>
            </a:r>
          </a:p>
        </p:txBody>
      </p:sp>
      <p:sp>
        <p:nvSpPr>
          <p:cNvPr id="121" name="Textebene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27200" y="5043258"/>
            <a:ext cx="20929600" cy="6172201"/>
          </a:xfrm>
          <a:prstGeom prst="rect">
            <a:avLst/>
          </a:prstGeom>
        </p:spPr>
        <p:txBody>
          <a:bodyPr/>
          <a:lstStyle>
            <a:lvl1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600" spc="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r>
              <a:t>Agendathemen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uf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27200" y="5281886"/>
            <a:ext cx="20929600" cy="31369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80000"/>
              </a:lnSpc>
              <a:defRPr sz="8600" spc="-86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>
              <a:lnSpc>
                <a:spcPct val="80000"/>
              </a:lnSpc>
              <a:defRPr sz="8600" spc="-86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>
              <a:lnSpc>
                <a:spcPct val="80000"/>
              </a:lnSpc>
              <a:defRPr sz="8600" spc="-86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>
              <a:lnSpc>
                <a:spcPct val="80000"/>
              </a:lnSpc>
              <a:defRPr sz="8600" spc="-86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>
              <a:lnSpc>
                <a:spcPct val="80000"/>
              </a:lnSpc>
              <a:defRPr sz="8600" spc="-86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Aufstellung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akt (groß)">
    <p:bg>
      <p:bgPr>
        <a:solidFill>
          <a:srgbClr val="227A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akte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727200" y="8611966"/>
            <a:ext cx="20929600" cy="908813"/>
          </a:xfrm>
          <a:prstGeom prst="rect">
            <a:avLst/>
          </a:prstGeom>
        </p:spPr>
        <p:txBody>
          <a:bodyPr/>
          <a:lstStyle>
            <a:lvl1pPr>
              <a:spcBef>
                <a:spcPts val="2000"/>
              </a:spcBef>
              <a:defRPr>
                <a:solidFill>
                  <a:srgbClr val="F0EBE0"/>
                </a:solidFill>
              </a:defRPr>
            </a:lvl1pPr>
          </a:lstStyle>
          <a:p>
            <a:r>
              <a:t>Fakten</a:t>
            </a:r>
          </a:p>
        </p:txBody>
      </p:sp>
      <p:sp>
        <p:nvSpPr>
          <p:cNvPr id="138" name="Linien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139" name="Linien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140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1727200" y="1098623"/>
            <a:ext cx="20929600" cy="7461177"/>
          </a:xfrm>
          <a:prstGeom prst="rect">
            <a:avLst/>
          </a:prstGeom>
        </p:spPr>
        <p:txBody>
          <a:bodyPr anchor="b"/>
          <a:lstStyle>
            <a:lvl1pPr>
              <a:lnSpc>
                <a:spcPct val="70000"/>
              </a:lnSpc>
              <a:defRPr sz="30000" b="1" spc="-3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>
              <a:lnSpc>
                <a:spcPct val="70000"/>
              </a:lnSpc>
              <a:defRPr sz="30000" b="1" spc="-3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>
              <a:lnSpc>
                <a:spcPct val="70000"/>
              </a:lnSpc>
              <a:defRPr sz="30000" b="1" spc="-3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>
              <a:lnSpc>
                <a:spcPct val="70000"/>
              </a:lnSpc>
              <a:defRPr sz="30000" b="1" spc="-3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>
              <a:lnSpc>
                <a:spcPct val="70000"/>
              </a:lnSpc>
              <a:defRPr sz="30000" b="1" spc="-3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Das Dänische Königliche Schauspielhaus, ein modernes am Wasser gelegenes Gebäude in Kopenhagen, vom Hafen aus gesehen bei Sonnenuntergang"/>
          <p:cNvSpPr>
            <a:spLocks noGrp="1"/>
          </p:cNvSpPr>
          <p:nvPr>
            <p:ph type="pic" idx="21"/>
          </p:nvPr>
        </p:nvSpPr>
        <p:spPr>
          <a:xfrm>
            <a:off x="-25400" y="-5359400"/>
            <a:ext cx="24422100" cy="24422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9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409700" y="2119884"/>
            <a:ext cx="10775585" cy="1936416"/>
          </a:xfrm>
          <a:prstGeom prst="rect">
            <a:avLst/>
          </a:prstGeom>
        </p:spPr>
        <p:txBody>
          <a:bodyPr/>
          <a:lstStyle>
            <a:lvl1pPr>
              <a:defRPr sz="5800" spc="-58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>
              <a:defRPr sz="5800" spc="-58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>
              <a:defRPr sz="5800" spc="-58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>
              <a:defRPr sz="5800" spc="-58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>
              <a:defRPr sz="5800" spc="-58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r>
              <a:t>„Bemerkenswert“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Linien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151" name="Linien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152" name="Quellenangab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409700" y="4051453"/>
            <a:ext cx="10775585" cy="543053"/>
          </a:xfrm>
          <a:prstGeom prst="rect">
            <a:avLst/>
          </a:prstGeom>
        </p:spPr>
        <p:txBody>
          <a:bodyPr anchor="ctr"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spc="0">
                <a:solidFill>
                  <a:srgbClr val="227AAF"/>
                </a:solidFill>
                <a:latin typeface="Publico Text Semibold"/>
                <a:ea typeface="Publico Text Semibold"/>
                <a:cs typeface="Publico Text Semibold"/>
                <a:sym typeface="Publico Text Semibold"/>
              </a:defRPr>
            </a:lvl1pPr>
          </a:lstStyle>
          <a:p>
            <a:r>
              <a:t>Quellenangabe</a:t>
            </a:r>
          </a:p>
        </p:txBody>
      </p:sp>
      <p:sp>
        <p:nvSpPr>
          <p:cNvPr id="15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Das Dänische Königliche Schauspielhaus, ein modernes am Wasser gelegenes Gebäude in Kopenhagen, vom Hafen aus gesehen bei Sonnenuntergang"/>
          <p:cNvSpPr>
            <a:spLocks noGrp="1"/>
          </p:cNvSpPr>
          <p:nvPr>
            <p:ph type="pic" sz="quarter" idx="21"/>
          </p:nvPr>
        </p:nvSpPr>
        <p:spPr>
          <a:xfrm>
            <a:off x="14727242" y="5618197"/>
            <a:ext cx="7877462" cy="78774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1" name="Der schwarze Diamant, ein moderner am Wasser gelegener Anbau der Dänischen Königlichen Bibliothek in Kopenhagen bei nächtlicher Beleuchtung"/>
          <p:cNvSpPr>
            <a:spLocks noGrp="1"/>
          </p:cNvSpPr>
          <p:nvPr>
            <p:ph type="pic" sz="quarter" idx="22"/>
          </p:nvPr>
        </p:nvSpPr>
        <p:spPr>
          <a:xfrm>
            <a:off x="14700215" y="1511300"/>
            <a:ext cx="7943851" cy="5295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" name="Hängebrücke über dem Wasser bei Sonnenuntergang"/>
          <p:cNvSpPr>
            <a:spLocks noGrp="1"/>
          </p:cNvSpPr>
          <p:nvPr>
            <p:ph type="pic" idx="23"/>
          </p:nvPr>
        </p:nvSpPr>
        <p:spPr>
          <a:xfrm>
            <a:off x="1778000" y="1346200"/>
            <a:ext cx="12852400" cy="110163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Luftaufnahme der Cirkelbroen-Brücke, einer modernen Fußgängerbrücke in Kopenhagen mit fünf kreisförmigen Plattformen"/>
          <p:cNvSpPr>
            <a:spLocks noGrp="1"/>
          </p:cNvSpPr>
          <p:nvPr>
            <p:ph type="pic" idx="21"/>
          </p:nvPr>
        </p:nvSpPr>
        <p:spPr>
          <a:xfrm>
            <a:off x="1727200" y="-1422400"/>
            <a:ext cx="21310600" cy="15989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der Präsentation"/>
          <p:cNvSpPr txBox="1">
            <a:spLocks noGrp="1"/>
          </p:cNvSpPr>
          <p:nvPr>
            <p:ph type="title" hasCustomPrompt="1"/>
          </p:nvPr>
        </p:nvSpPr>
        <p:spPr>
          <a:xfrm>
            <a:off x="1727200" y="4428480"/>
            <a:ext cx="20929600" cy="2797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Titel der Präsentation</a:t>
            </a:r>
          </a:p>
        </p:txBody>
      </p:sp>
      <p:sp>
        <p:nvSpPr>
          <p:cNvPr id="3" name="Linien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4" name="Linien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3000" cap="all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  <a:endParaRPr/>
          </a:p>
        </p:txBody>
      </p:sp>
      <p:sp>
        <p:nvSpPr>
          <p:cNvPr id="5" name="Textebene 1…"/>
          <p:cNvSpPr txBox="1">
            <a:spLocks noGrp="1"/>
          </p:cNvSpPr>
          <p:nvPr>
            <p:ph type="body" idx="1" hasCustomPrompt="1"/>
          </p:nvPr>
        </p:nvSpPr>
        <p:spPr>
          <a:xfrm>
            <a:off x="1727200" y="7251700"/>
            <a:ext cx="20929600" cy="203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Präsentationsuntertitel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1998832" y="13030199"/>
            <a:ext cx="386335" cy="4191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tabLst/>
              <a:defRPr sz="1800">
                <a:solidFill>
                  <a:srgbClr val="227AAF"/>
                </a:solidFill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hf sldNum="0" hdr="0" ftr="0"/>
  <p:txStyles>
    <p:titleStyle>
      <a:lvl1pPr marL="0" marR="0" indent="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1pPr>
      <a:lvl2pPr marL="0" marR="0" indent="4572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2pPr>
      <a:lvl3pPr marL="0" marR="0" indent="9144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3pPr>
      <a:lvl4pPr marL="0" marR="0" indent="13716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4pPr>
      <a:lvl5pPr marL="0" marR="0" indent="18288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5pPr>
      <a:lvl6pPr marL="0" marR="0" indent="22860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6pPr>
      <a:lvl7pPr marL="0" marR="0" indent="27432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7pPr>
      <a:lvl8pPr marL="0" marR="0" indent="32004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8pPr>
      <a:lvl9pPr marL="0" marR="0" indent="36576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600" b="0" i="0" u="none" strike="noStrike" cap="none" spc="-86" baseline="0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9pPr>
    </p:titleStyle>
    <p:body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1pPr>
      <a:lvl2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2pPr>
      <a:lvl3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3pPr>
      <a:lvl4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4pPr>
      <a:lvl5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5pPr>
      <a:lvl6pPr marL="0" marR="0" indent="2286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6pPr>
      <a:lvl7pPr marL="0" marR="0" indent="2743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7pPr>
      <a:lvl8pPr marL="0" marR="0" indent="3200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8pPr>
      <a:lvl9pPr marL="0" marR="0" indent="3657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-44" baseline="0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1pPr>
      <a:lvl2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2pPr>
      <a:lvl3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3pPr>
      <a:lvl4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4pPr>
      <a:lvl5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5pPr>
      <a:lvl6pPr marL="0" marR="0" indent="2286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6pPr>
      <a:lvl7pPr marL="0" marR="0" indent="2743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7pPr>
      <a:lvl8pPr marL="0" marR="0" indent="3200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8pPr>
      <a:lvl9pPr marL="0" marR="0" indent="3657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uchs Joshua, Schulz Lukas, Häusler Alex"/>
          <p:cNvSpPr txBox="1">
            <a:spLocks noGrp="1"/>
          </p:cNvSpPr>
          <p:nvPr>
            <p:ph type="body" idx="21"/>
          </p:nvPr>
        </p:nvSpPr>
        <p:spPr>
          <a:xfrm>
            <a:off x="1727200" y="1003299"/>
            <a:ext cx="18055063" cy="49096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l"/>
          </a:lstStyle>
          <a:p>
            <a:r>
              <a:rPr dirty="0"/>
              <a:t>Fuchs Joshua, Schulz Lukas, </a:t>
            </a:r>
            <a:r>
              <a:rPr dirty="0" err="1"/>
              <a:t>Häusler</a:t>
            </a:r>
            <a:r>
              <a:rPr dirty="0"/>
              <a:t> Alex</a:t>
            </a:r>
          </a:p>
        </p:txBody>
      </p:sp>
      <p:sp>
        <p:nvSpPr>
          <p:cNvPr id="188" name="Projekt Lademanagement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Projekt </a:t>
            </a:r>
            <a:r>
              <a:rPr>
                <a:solidFill>
                  <a:schemeClr val="accent3"/>
                </a:solidFill>
              </a:rPr>
              <a:t>La</a:t>
            </a:r>
            <a:r>
              <a:t>de</a:t>
            </a:r>
            <a:r>
              <a:rPr>
                <a:solidFill>
                  <a:schemeClr val="accent3"/>
                </a:solidFill>
              </a:rPr>
              <a:t>ma</a:t>
            </a:r>
            <a:r>
              <a:t>nagement </a:t>
            </a:r>
          </a:p>
        </p:txBody>
      </p:sp>
      <p:pic>
        <p:nvPicPr>
          <p:cNvPr id="189" name="E-Ladesaeule-Stromverteilung-02.png" descr="E-Ladesaeule-Stromverteilun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299" y="8124824"/>
            <a:ext cx="12471401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0A51927-2F75-C6D5-A3BB-759EF7DBD133}"/>
              </a:ext>
            </a:extLst>
          </p:cNvPr>
          <p:cNvSpPr txBox="1"/>
          <p:nvPr/>
        </p:nvSpPr>
        <p:spPr>
          <a:xfrm>
            <a:off x="21031200" y="922359"/>
            <a:ext cx="2453268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14.11.24</a:t>
            </a:r>
            <a:endParaRPr kumimoji="0" lang="de-DE" sz="3600" b="0" i="0" u="none" strike="noStrike" cap="none" spc="0" normalizeH="0" baseline="0" dirty="0">
              <a:ln>
                <a:noFill/>
              </a:ln>
              <a:solidFill>
                <a:srgbClr val="4A4A4A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58A590-BC72-898F-CBA9-E23733889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99" y="1494262"/>
            <a:ext cx="4064000" cy="3251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Agenda-LAM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Agenda-LAMA</a:t>
            </a:r>
          </a:p>
        </p:txBody>
      </p:sp>
      <p:sp>
        <p:nvSpPr>
          <p:cNvPr id="192" name="Einführung in das Projekt und Zielsetzung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60400" indent="-660400">
              <a:lnSpc>
                <a:spcPct val="80000"/>
              </a:lnSpc>
              <a:buSzPct val="100000"/>
              <a:buAutoNum type="arabicPeriod"/>
              <a:defRPr sz="3600"/>
            </a:pPr>
            <a:r>
              <a:rPr dirty="0" err="1"/>
              <a:t>Einführung</a:t>
            </a:r>
            <a:r>
              <a:rPr dirty="0"/>
              <a:t> in das Projekt und </a:t>
            </a:r>
            <a:r>
              <a:rPr dirty="0" err="1"/>
              <a:t>Zielsetzung</a:t>
            </a:r>
            <a:r>
              <a:rPr dirty="0"/>
              <a:t> </a:t>
            </a:r>
          </a:p>
          <a:p>
            <a:pPr marL="660400" indent="-660400">
              <a:lnSpc>
                <a:spcPct val="80000"/>
              </a:lnSpc>
              <a:buSzPct val="100000"/>
              <a:buAutoNum type="arabicPeriod"/>
              <a:defRPr sz="3600"/>
            </a:pPr>
            <a:r>
              <a:rPr dirty="0" err="1"/>
              <a:t>Simulationserläuterung</a:t>
            </a:r>
            <a:r>
              <a:rPr dirty="0"/>
              <a:t> und -</a:t>
            </a:r>
            <a:r>
              <a:rPr dirty="0" err="1"/>
              <a:t>präsentation</a:t>
            </a:r>
            <a:endParaRPr dirty="0"/>
          </a:p>
          <a:p>
            <a:pPr marL="660400" indent="-660400">
              <a:lnSpc>
                <a:spcPct val="80000"/>
              </a:lnSpc>
              <a:buSzPct val="100000"/>
              <a:buAutoNum type="arabicPeriod"/>
              <a:defRPr sz="3600"/>
            </a:pPr>
            <a:r>
              <a:rPr dirty="0" err="1"/>
              <a:t>Übergabe</a:t>
            </a:r>
            <a:r>
              <a:rPr dirty="0"/>
              <a:t> an den </a:t>
            </a:r>
            <a:r>
              <a:rPr dirty="0" err="1"/>
              <a:t>Testaufbau</a:t>
            </a:r>
            <a:endParaRPr dirty="0"/>
          </a:p>
          <a:p>
            <a:pPr marL="660400" indent="-660400">
              <a:lnSpc>
                <a:spcPct val="80000"/>
              </a:lnSpc>
              <a:buSzPct val="100000"/>
              <a:buAutoNum type="arabicPeriod"/>
              <a:defRPr sz="3600"/>
            </a:pPr>
            <a:r>
              <a:rPr dirty="0"/>
              <a:t>Demonstration der </a:t>
            </a:r>
            <a:r>
              <a:rPr dirty="0" err="1"/>
              <a:t>Datenkommunikation</a:t>
            </a:r>
            <a:endParaRPr dirty="0"/>
          </a:p>
          <a:p>
            <a:pPr marL="660400" indent="-660400">
              <a:lnSpc>
                <a:spcPct val="80000"/>
              </a:lnSpc>
              <a:buSzPct val="100000"/>
              <a:buAutoNum type="arabicPeriod"/>
              <a:defRPr sz="3600"/>
            </a:pPr>
            <a:r>
              <a:rPr dirty="0" err="1"/>
              <a:t>Abschluss</a:t>
            </a:r>
            <a:r>
              <a:rPr dirty="0"/>
              <a:t> und </a:t>
            </a:r>
            <a:r>
              <a:rPr dirty="0" err="1"/>
              <a:t>Zusammenfassung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Aktuell :…"/>
          <p:cNvSpPr txBox="1">
            <a:spLocks noGrp="1"/>
          </p:cNvSpPr>
          <p:nvPr>
            <p:ph type="body" sz="half" idx="1"/>
          </p:nvPr>
        </p:nvSpPr>
        <p:spPr>
          <a:xfrm>
            <a:off x="13665200" y="3625099"/>
            <a:ext cx="9271001" cy="880533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Aktuell : </a:t>
            </a:r>
          </a:p>
          <a:p>
            <a:r>
              <a:t>Kein aktives Lademanagement </a:t>
            </a:r>
          </a:p>
          <a:p>
            <a:r>
              <a:t>Kein Datenabruf von Außen </a:t>
            </a:r>
          </a:p>
          <a:p>
            <a:pPr marL="0" indent="0">
              <a:buSzTx/>
              <a:buNone/>
            </a:pPr>
            <a:r>
              <a:t>Zielsetzung: </a:t>
            </a:r>
          </a:p>
          <a:p>
            <a:r>
              <a:t>Laderegler regelt aktiv für effizientes Laden </a:t>
            </a:r>
          </a:p>
          <a:p>
            <a:r>
              <a:t>Live-Daten Abruf und Fernsteuerung über Solarlabor </a:t>
            </a:r>
          </a:p>
        </p:txBody>
      </p:sp>
      <p:pic>
        <p:nvPicPr>
          <p:cNvPr id="195" name="Hängebrücke über dem Wasser bei Sonnenuntergang" descr="Hängebrücke über dem Wasser bei Sonnenunterga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5154" b="33"/>
          <a:stretch>
            <a:fillRect/>
          </a:stretch>
        </p:blipFill>
        <p:spPr>
          <a:xfrm>
            <a:off x="44145" y="12700"/>
            <a:ext cx="12129109" cy="13716001"/>
          </a:xfrm>
          <a:prstGeom prst="rect">
            <a:avLst/>
          </a:prstGeom>
        </p:spPr>
      </p:pic>
      <p:sp>
        <p:nvSpPr>
          <p:cNvPr id="196" name="1. Einführung Projekt und Zielsetzung"/>
          <p:cNvSpPr txBox="1">
            <a:spLocks noGrp="1"/>
          </p:cNvSpPr>
          <p:nvPr>
            <p:ph type="title"/>
          </p:nvPr>
        </p:nvSpPr>
        <p:spPr>
          <a:xfrm>
            <a:off x="13665199" y="1680227"/>
            <a:ext cx="9271001" cy="1930988"/>
          </a:xfrm>
          <a:prstGeom prst="rect">
            <a:avLst/>
          </a:prstGeom>
        </p:spPr>
        <p:txBody>
          <a:bodyPr/>
          <a:lstStyle>
            <a:lvl1pPr algn="ctr">
              <a:defRPr sz="6000" spc="-60"/>
            </a:lvl1pPr>
          </a:lstStyle>
          <a:p>
            <a:r>
              <a:t>1. Einführung Projekt und Zielsetzung  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C6E2-F203-B80F-A94F-FE1A5F9D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uchs Joshua, Schulz Lukas, Häusler Alex">
            <a:extLst>
              <a:ext uri="{FF2B5EF4-FFF2-40B4-BE49-F238E27FC236}">
                <a16:creationId xmlns:a16="http://schemas.microsoft.com/office/drawing/2014/main" id="{CC3A284D-6084-98EA-183D-E5359C063FA2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l"/>
          </a:lstStyle>
          <a:p>
            <a:r>
              <a:t>Fuchs Joshua, Schulz Lukas, Häusler Alex</a:t>
            </a:r>
          </a:p>
        </p:txBody>
      </p:sp>
      <p:sp>
        <p:nvSpPr>
          <p:cNvPr id="188" name="Projekt Lademanagement">
            <a:extLst>
              <a:ext uri="{FF2B5EF4-FFF2-40B4-BE49-F238E27FC236}">
                <a16:creationId xmlns:a16="http://schemas.microsoft.com/office/drawing/2014/main" id="{83C63B19-4233-734E-7022-B0B087D80F9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Simulation</a:t>
            </a:r>
            <a:endParaRPr dirty="0"/>
          </a:p>
        </p:txBody>
      </p:sp>
      <p:pic>
        <p:nvPicPr>
          <p:cNvPr id="189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226485FD-B5C4-BDE6-BB64-3BAE8E4FB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299" y="8124824"/>
            <a:ext cx="12471401" cy="38227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546952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r Laderegler kann über Modbus mit dem Raspberry Pi kommunizieren…">
            <a:extLst>
              <a:ext uri="{FF2B5EF4-FFF2-40B4-BE49-F238E27FC236}">
                <a16:creationId xmlns:a16="http://schemas.microsoft.com/office/drawing/2014/main" id="{C8D49E16-E7A3-FB91-637C-31999B51DC29}"/>
              </a:ext>
            </a:extLst>
          </p:cNvPr>
          <p:cNvSpPr txBox="1">
            <a:spLocks/>
          </p:cNvSpPr>
          <p:nvPr/>
        </p:nvSpPr>
        <p:spPr>
          <a:xfrm>
            <a:off x="1841499" y="2456688"/>
            <a:ext cx="18521958" cy="964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926097">
            <a:normAutofit/>
          </a:bodyPr>
          <a:lstStyle>
            <a:lvl1pPr marL="4826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  <a:lvl6pPr marL="0" marR="0" indent="22860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6pPr>
            <a:lvl7pPr marL="0" marR="0" indent="27432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7pPr>
            <a:lvl8pPr marL="0" marR="0" indent="32004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8pPr>
            <a:lvl9pPr marL="0" marR="0" indent="36576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9pPr>
          </a:lstStyle>
          <a:p>
            <a:pPr hangingPunct="1"/>
            <a:r>
              <a:rPr lang="de-DE" dirty="0"/>
              <a:t>Szenario 1 (keine Schuko-Last):</a:t>
            </a:r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r>
              <a:rPr lang="de-DE" dirty="0"/>
              <a:t>Szenario 2 (10A Schuko-Last auf </a:t>
            </a:r>
            <a:r>
              <a:rPr lang="de-DE" dirty="0">
                <a:highlight>
                  <a:srgbClr val="FFFF00"/>
                </a:highlight>
              </a:rPr>
              <a:t>Phase 1</a:t>
            </a:r>
            <a:r>
              <a:rPr lang="de-DE" dirty="0"/>
              <a:t>):</a:t>
            </a:r>
          </a:p>
          <a:p>
            <a:pPr marL="482600" lvl="1" indent="0" hangingPunct="1">
              <a:buNone/>
            </a:pPr>
            <a:endParaRPr lang="de-DE" dirty="0"/>
          </a:p>
        </p:txBody>
      </p:sp>
      <p:pic>
        <p:nvPicPr>
          <p:cNvPr id="8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6F7F4251-748E-1D6D-D09E-2F4034670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>
            <a:off x="3259836" y="2709736"/>
            <a:ext cx="3127248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5E6F093-E877-6AEA-639D-AD51857DC2B7}"/>
              </a:ext>
            </a:extLst>
          </p:cNvPr>
          <p:cNvSpPr txBox="1"/>
          <p:nvPr/>
        </p:nvSpPr>
        <p:spPr>
          <a:xfrm>
            <a:off x="5122205" y="5224363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32A</a:t>
            </a:r>
          </a:p>
        </p:txBody>
      </p:sp>
      <p:pic>
        <p:nvPicPr>
          <p:cNvPr id="10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1A654ECD-6417-40C5-33C9-F675D6887D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>
            <a:off x="14380930" y="2664148"/>
            <a:ext cx="3127248" cy="3822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2F98F8A0-D891-BED0-2407-A06B24A9C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 flipH="1">
            <a:off x="12242059" y="2686942"/>
            <a:ext cx="3127249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2D43D77-D5A8-523F-74A0-687D05357D17}"/>
              </a:ext>
            </a:extLst>
          </p:cNvPr>
          <p:cNvSpPr txBox="1"/>
          <p:nvPr/>
        </p:nvSpPr>
        <p:spPr>
          <a:xfrm>
            <a:off x="12306299" y="5977274"/>
            <a:ext cx="4382610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Auto 2 wird angehängt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7FEEEAC-3241-F1CC-0398-AA472238C634}"/>
              </a:ext>
            </a:extLst>
          </p:cNvPr>
          <p:cNvCxnSpPr>
            <a:cxnSpLocks/>
          </p:cNvCxnSpPr>
          <p:nvPr/>
        </p:nvCxnSpPr>
        <p:spPr>
          <a:xfrm flipH="1">
            <a:off x="5771263" y="3979022"/>
            <a:ext cx="615821" cy="671804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12BE6F95-1FCC-24C9-2889-807DCE0776F4}"/>
              </a:ext>
            </a:extLst>
          </p:cNvPr>
          <p:cNvSpPr txBox="1"/>
          <p:nvPr/>
        </p:nvSpPr>
        <p:spPr>
          <a:xfrm>
            <a:off x="6488073" y="3404930"/>
            <a:ext cx="168796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3-phasig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969156F-A3F7-F791-B152-2568DF2796E5}"/>
              </a:ext>
            </a:extLst>
          </p:cNvPr>
          <p:cNvSpPr txBox="1"/>
          <p:nvPr/>
        </p:nvSpPr>
        <p:spPr>
          <a:xfrm>
            <a:off x="17689475" y="3317942"/>
            <a:ext cx="168796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3-phasig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393FC67-0698-2019-1F5A-CCA9A1845DAA}"/>
              </a:ext>
            </a:extLst>
          </p:cNvPr>
          <p:cNvSpPr txBox="1"/>
          <p:nvPr/>
        </p:nvSpPr>
        <p:spPr>
          <a:xfrm>
            <a:off x="10504383" y="3329339"/>
            <a:ext cx="168796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3-phasig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555CDDE-ACC1-EDA5-3C7E-9C2D9D7196E3}"/>
              </a:ext>
            </a:extLst>
          </p:cNvPr>
          <p:cNvCxnSpPr>
            <a:cxnSpLocks/>
          </p:cNvCxnSpPr>
          <p:nvPr/>
        </p:nvCxnSpPr>
        <p:spPr>
          <a:xfrm flipH="1">
            <a:off x="16974228" y="3942770"/>
            <a:ext cx="615821" cy="671804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BCB80EA-52C8-78A2-ED01-3DC983D5CB1E}"/>
              </a:ext>
            </a:extLst>
          </p:cNvPr>
          <p:cNvCxnSpPr>
            <a:cxnSpLocks/>
          </p:cNvCxnSpPr>
          <p:nvPr/>
        </p:nvCxnSpPr>
        <p:spPr>
          <a:xfrm>
            <a:off x="12242059" y="3979022"/>
            <a:ext cx="506563" cy="619270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3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DC4DEA93-927C-D0E0-2C44-D2ED6849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>
            <a:off x="3307708" y="7680799"/>
            <a:ext cx="3127248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A5C91053-B8E5-1956-87AE-FFF19C124FAB}"/>
              </a:ext>
            </a:extLst>
          </p:cNvPr>
          <p:cNvSpPr txBox="1"/>
          <p:nvPr/>
        </p:nvSpPr>
        <p:spPr>
          <a:xfrm>
            <a:off x="2057838" y="11018175"/>
            <a:ext cx="4382610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Auto 1 wird angehängt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74EC9D85-CBF3-B00D-9C23-84AEA40F25E0}"/>
              </a:ext>
            </a:extLst>
          </p:cNvPr>
          <p:cNvCxnSpPr>
            <a:cxnSpLocks/>
          </p:cNvCxnSpPr>
          <p:nvPr/>
        </p:nvCxnSpPr>
        <p:spPr>
          <a:xfrm flipH="1">
            <a:off x="894089" y="7222128"/>
            <a:ext cx="22695940" cy="0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7A90ACB-CBEE-496E-6479-2236959C3847}"/>
              </a:ext>
            </a:extLst>
          </p:cNvPr>
          <p:cNvCxnSpPr>
            <a:cxnSpLocks/>
          </p:cNvCxnSpPr>
          <p:nvPr/>
        </p:nvCxnSpPr>
        <p:spPr>
          <a:xfrm>
            <a:off x="8800712" y="4929996"/>
            <a:ext cx="1946266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9E2BDF3-8B97-291C-8167-EA627696E5B1}"/>
              </a:ext>
            </a:extLst>
          </p:cNvPr>
          <p:cNvCxnSpPr>
            <a:cxnSpLocks/>
          </p:cNvCxnSpPr>
          <p:nvPr/>
        </p:nvCxnSpPr>
        <p:spPr>
          <a:xfrm>
            <a:off x="8558117" y="10008960"/>
            <a:ext cx="1946266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32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D4835B1E-26F1-3CEF-09CD-957E52223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>
            <a:off x="14623525" y="7730840"/>
            <a:ext cx="3127248" cy="3822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1F1E963A-DA6B-712D-6E5F-5A3371EDB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 flipH="1">
            <a:off x="12484654" y="7753634"/>
            <a:ext cx="3127249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C12C566E-F35F-0B8A-9CB9-4651EFF7C2F3}"/>
              </a:ext>
            </a:extLst>
          </p:cNvPr>
          <p:cNvSpPr txBox="1"/>
          <p:nvPr/>
        </p:nvSpPr>
        <p:spPr>
          <a:xfrm>
            <a:off x="12071516" y="11041815"/>
            <a:ext cx="623568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Auto 2 wird angehängt -&gt; 2x 16A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98B2E4D-47EB-7174-DA1A-1C38DB36BBBA}"/>
              </a:ext>
            </a:extLst>
          </p:cNvPr>
          <p:cNvSpPr txBox="1"/>
          <p:nvPr/>
        </p:nvSpPr>
        <p:spPr>
          <a:xfrm>
            <a:off x="17932070" y="8384634"/>
            <a:ext cx="395140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-phasig auf 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highlight>
                  <a:srgbClr val="FFFF00"/>
                </a:highlight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Phase 2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63DF51C-7AF4-5D7F-4EE5-F33FC0AC1BED}"/>
              </a:ext>
            </a:extLst>
          </p:cNvPr>
          <p:cNvSpPr txBox="1"/>
          <p:nvPr/>
        </p:nvSpPr>
        <p:spPr>
          <a:xfrm>
            <a:off x="10746978" y="8396031"/>
            <a:ext cx="168796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3-phasig</a:t>
            </a: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AED45B7-A55D-D81C-6D2D-006318FD8A07}"/>
              </a:ext>
            </a:extLst>
          </p:cNvPr>
          <p:cNvCxnSpPr>
            <a:cxnSpLocks/>
          </p:cNvCxnSpPr>
          <p:nvPr/>
        </p:nvCxnSpPr>
        <p:spPr>
          <a:xfrm flipH="1">
            <a:off x="17216823" y="9009462"/>
            <a:ext cx="615821" cy="671804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57AAABA1-D57C-6B40-7311-40FB88D0B8F9}"/>
              </a:ext>
            </a:extLst>
          </p:cNvPr>
          <p:cNvCxnSpPr>
            <a:cxnSpLocks/>
          </p:cNvCxnSpPr>
          <p:nvPr/>
        </p:nvCxnSpPr>
        <p:spPr>
          <a:xfrm>
            <a:off x="12484654" y="9045714"/>
            <a:ext cx="506563" cy="619270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4CD3890F-F3C2-0FB4-A608-16F64F7A4CA8}"/>
              </a:ext>
            </a:extLst>
          </p:cNvPr>
          <p:cNvCxnSpPr>
            <a:cxnSpLocks/>
          </p:cNvCxnSpPr>
          <p:nvPr/>
        </p:nvCxnSpPr>
        <p:spPr>
          <a:xfrm flipH="1">
            <a:off x="5868848" y="8942540"/>
            <a:ext cx="615821" cy="671804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6B631464-DAA6-092C-8ED1-614114B0D4A3}"/>
              </a:ext>
            </a:extLst>
          </p:cNvPr>
          <p:cNvSpPr txBox="1"/>
          <p:nvPr/>
        </p:nvSpPr>
        <p:spPr>
          <a:xfrm>
            <a:off x="6484669" y="8192147"/>
            <a:ext cx="168796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3-phasig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BB8EEC8-3D40-8408-E240-CDDB9A379A24}"/>
              </a:ext>
            </a:extLst>
          </p:cNvPr>
          <p:cNvSpPr txBox="1"/>
          <p:nvPr/>
        </p:nvSpPr>
        <p:spPr>
          <a:xfrm>
            <a:off x="2740657" y="5978990"/>
            <a:ext cx="4382610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Auto 1 wird angehängt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95110F88-5F84-36A3-0CF8-31ADC1A8C216}"/>
              </a:ext>
            </a:extLst>
          </p:cNvPr>
          <p:cNvSpPr txBox="1"/>
          <p:nvPr/>
        </p:nvSpPr>
        <p:spPr>
          <a:xfrm>
            <a:off x="16265039" y="5202606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16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3D68A6F-AB19-4485-12F6-CFF64D00BB42}"/>
              </a:ext>
            </a:extLst>
          </p:cNvPr>
          <p:cNvSpPr txBox="1"/>
          <p:nvPr/>
        </p:nvSpPr>
        <p:spPr>
          <a:xfrm>
            <a:off x="12649669" y="5220646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16A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47DA066-C089-3DF7-9E9F-3BF98890DFCF}"/>
              </a:ext>
            </a:extLst>
          </p:cNvPr>
          <p:cNvSpPr txBox="1"/>
          <p:nvPr/>
        </p:nvSpPr>
        <p:spPr>
          <a:xfrm>
            <a:off x="5202256" y="10209232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16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8602C59-52F8-098E-8735-A3216F7BD9DE}"/>
              </a:ext>
            </a:extLst>
          </p:cNvPr>
          <p:cNvSpPr txBox="1"/>
          <p:nvPr/>
        </p:nvSpPr>
        <p:spPr>
          <a:xfrm>
            <a:off x="12852550" y="10289761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16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176AB43-BE3D-8E05-04D6-F15518B54D64}"/>
              </a:ext>
            </a:extLst>
          </p:cNvPr>
          <p:cNvSpPr txBox="1"/>
          <p:nvPr/>
        </p:nvSpPr>
        <p:spPr>
          <a:xfrm>
            <a:off x="16506455" y="10248654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32A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58CA-7B5E-4323-1793-34016D61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r Laderegler kann über Modbus mit dem Raspberry Pi kommunizieren…">
            <a:extLst>
              <a:ext uri="{FF2B5EF4-FFF2-40B4-BE49-F238E27FC236}">
                <a16:creationId xmlns:a16="http://schemas.microsoft.com/office/drawing/2014/main" id="{86BA4F24-74BE-EFB0-8EB8-75BD5206A9CD}"/>
              </a:ext>
            </a:extLst>
          </p:cNvPr>
          <p:cNvSpPr txBox="1">
            <a:spLocks/>
          </p:cNvSpPr>
          <p:nvPr/>
        </p:nvSpPr>
        <p:spPr>
          <a:xfrm>
            <a:off x="1727198" y="3218688"/>
            <a:ext cx="27061653" cy="964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926097">
            <a:normAutofit/>
          </a:bodyPr>
          <a:lstStyle>
            <a:lvl1pPr marL="4826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marR="0" indent="-482600" algn="l" defTabSz="12700" rtl="0" latinLnBrk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Tx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600" b="0" i="0" u="none" strike="noStrike" cap="none" spc="0" baseline="0">
                <a:solidFill>
                  <a:srgbClr val="4A4A4A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  <a:lvl6pPr marL="0" marR="0" indent="22860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6pPr>
            <a:lvl7pPr marL="0" marR="0" indent="27432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7pPr>
            <a:lvl8pPr marL="0" marR="0" indent="32004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8pPr>
            <a:lvl9pPr marL="0" marR="0" indent="3657600" algn="ctr" defTabSz="5842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-44" baseline="0">
                <a:solidFill>
                  <a:srgbClr val="227AAE"/>
                </a:solidFill>
                <a:uFillTx/>
                <a:latin typeface="Publico Text Roman"/>
                <a:ea typeface="Publico Text Roman"/>
                <a:cs typeface="Publico Text Roman"/>
                <a:sym typeface="Publico Text Roman"/>
              </a:defRPr>
            </a:lvl9pPr>
          </a:lstStyle>
          <a:p>
            <a:pPr marL="482600" lvl="1" indent="0" hangingPunct="1">
              <a:buNone/>
            </a:pPr>
            <a:r>
              <a:rPr lang="de-DE" dirty="0"/>
              <a:t>Szenario 3 (10A Schuko-Last auf Phase 1):</a:t>
            </a:r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  <a:p>
            <a:pPr marL="482600" lvl="1" indent="0" hangingPunct="1">
              <a:buNone/>
            </a:pPr>
            <a:endParaRPr lang="de-DE" dirty="0"/>
          </a:p>
        </p:txBody>
      </p:sp>
      <p:pic>
        <p:nvPicPr>
          <p:cNvPr id="8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3FCAAB4D-D01A-4123-8C83-A910FC88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>
            <a:off x="3145536" y="3471736"/>
            <a:ext cx="3127248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4FBE42D-8796-3842-B7F4-3EC6487F6F0F}"/>
              </a:ext>
            </a:extLst>
          </p:cNvPr>
          <p:cNvSpPr txBox="1"/>
          <p:nvPr/>
        </p:nvSpPr>
        <p:spPr>
          <a:xfrm>
            <a:off x="5007905" y="5986363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32A</a:t>
            </a:r>
          </a:p>
        </p:txBody>
      </p:sp>
      <p:pic>
        <p:nvPicPr>
          <p:cNvPr id="10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ADD56CA1-2887-3FB7-33FC-1CEBB6724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>
            <a:off x="14266630" y="3426148"/>
            <a:ext cx="3127248" cy="3822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E-Ladesaeule-Stromverteilung-02.png" descr="E-Ladesaeule-Stromverteilung-02.png">
            <a:extLst>
              <a:ext uri="{FF2B5EF4-FFF2-40B4-BE49-F238E27FC236}">
                <a16:creationId xmlns:a16="http://schemas.microsoft.com/office/drawing/2014/main" id="{56B8113D-B7FC-ED27-6A70-9B4C417D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4" r="65520"/>
          <a:stretch/>
        </p:blipFill>
        <p:spPr>
          <a:xfrm flipH="1">
            <a:off x="12127759" y="3448942"/>
            <a:ext cx="3127249" cy="38227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04258723-D4A6-0B2F-26C0-E12CBC0436C3}"/>
              </a:ext>
            </a:extLst>
          </p:cNvPr>
          <p:cNvSpPr txBox="1"/>
          <p:nvPr/>
        </p:nvSpPr>
        <p:spPr>
          <a:xfrm>
            <a:off x="12191999" y="6739274"/>
            <a:ext cx="4382610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Auto 2 wird angehängt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758B3F1-AD4D-AE76-1F56-7EB561780EDB}"/>
              </a:ext>
            </a:extLst>
          </p:cNvPr>
          <p:cNvCxnSpPr>
            <a:cxnSpLocks/>
          </p:cNvCxnSpPr>
          <p:nvPr/>
        </p:nvCxnSpPr>
        <p:spPr>
          <a:xfrm flipH="1">
            <a:off x="5656963" y="4741022"/>
            <a:ext cx="615821" cy="671804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7B812FCB-6A58-FAC3-96AF-C160E16CE5D1}"/>
              </a:ext>
            </a:extLst>
          </p:cNvPr>
          <p:cNvCxnSpPr>
            <a:cxnSpLocks/>
          </p:cNvCxnSpPr>
          <p:nvPr/>
        </p:nvCxnSpPr>
        <p:spPr>
          <a:xfrm flipH="1">
            <a:off x="16859928" y="4704770"/>
            <a:ext cx="615821" cy="671804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49C44BD-3176-FE96-61C4-9359F1121763}"/>
              </a:ext>
            </a:extLst>
          </p:cNvPr>
          <p:cNvCxnSpPr>
            <a:cxnSpLocks/>
          </p:cNvCxnSpPr>
          <p:nvPr/>
        </p:nvCxnSpPr>
        <p:spPr>
          <a:xfrm>
            <a:off x="12127759" y="4741022"/>
            <a:ext cx="506563" cy="619270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E480DBA0-DBE4-E76E-58D8-8702E497F146}"/>
              </a:ext>
            </a:extLst>
          </p:cNvPr>
          <p:cNvCxnSpPr>
            <a:cxnSpLocks/>
          </p:cNvCxnSpPr>
          <p:nvPr/>
        </p:nvCxnSpPr>
        <p:spPr>
          <a:xfrm flipH="1">
            <a:off x="779789" y="7984128"/>
            <a:ext cx="22695940" cy="0"/>
          </a:xfrm>
          <a:prstGeom prst="line">
            <a:avLst/>
          </a:prstGeom>
          <a:noFill/>
          <a:ln w="50800" cap="flat">
            <a:solidFill>
              <a:srgbClr val="227AA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C18BCA2-78CB-E85D-315E-C00588098945}"/>
              </a:ext>
            </a:extLst>
          </p:cNvPr>
          <p:cNvCxnSpPr>
            <a:cxnSpLocks/>
          </p:cNvCxnSpPr>
          <p:nvPr/>
        </p:nvCxnSpPr>
        <p:spPr>
          <a:xfrm>
            <a:off x="8686412" y="5691996"/>
            <a:ext cx="1946266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81BA19F7-3162-FBA8-42D3-282919E0EDE6}"/>
              </a:ext>
            </a:extLst>
          </p:cNvPr>
          <p:cNvSpPr txBox="1"/>
          <p:nvPr/>
        </p:nvSpPr>
        <p:spPr>
          <a:xfrm>
            <a:off x="2626357" y="6740990"/>
            <a:ext cx="4382610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Auto 1 wird angehängt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99E2791-C8F3-1CDD-3078-862116BCC5FF}"/>
              </a:ext>
            </a:extLst>
          </p:cNvPr>
          <p:cNvSpPr txBox="1"/>
          <p:nvPr/>
        </p:nvSpPr>
        <p:spPr>
          <a:xfrm>
            <a:off x="16150739" y="5964606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16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0818595-5D9D-7DFE-DC7B-7FDC58D7CF64}"/>
              </a:ext>
            </a:extLst>
          </p:cNvPr>
          <p:cNvSpPr txBox="1"/>
          <p:nvPr/>
        </p:nvSpPr>
        <p:spPr>
          <a:xfrm>
            <a:off x="12535369" y="5982646"/>
            <a:ext cx="838371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32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A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0DB7C-B417-24E7-9E93-D5E57FED1E91}"/>
              </a:ext>
            </a:extLst>
          </p:cNvPr>
          <p:cNvSpPr txBox="1"/>
          <p:nvPr/>
        </p:nvSpPr>
        <p:spPr>
          <a:xfrm>
            <a:off x="5248868" y="3906554"/>
            <a:ext cx="395140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-phasig auf 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highlight>
                  <a:srgbClr val="FFFF00"/>
                </a:highlight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Phase 2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112A0AF-0EC4-5658-ED08-DE769B6543BB}"/>
              </a:ext>
            </a:extLst>
          </p:cNvPr>
          <p:cNvSpPr txBox="1"/>
          <p:nvPr/>
        </p:nvSpPr>
        <p:spPr>
          <a:xfrm>
            <a:off x="17492807" y="3987024"/>
            <a:ext cx="395140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-phasig auf 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highlight>
                  <a:srgbClr val="FFFF00"/>
                </a:highlight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Phase 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4FC53FE-5E31-705C-65F1-DF918CF9F75E}"/>
              </a:ext>
            </a:extLst>
          </p:cNvPr>
          <p:cNvSpPr txBox="1"/>
          <p:nvPr/>
        </p:nvSpPr>
        <p:spPr>
          <a:xfrm>
            <a:off x="9995741" y="3906554"/>
            <a:ext cx="3951403" cy="8535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12700" rtl="0" fontAlgn="auto" latinLnBrk="0" hangingPunct="0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de-DE" dirty="0"/>
              <a:t>1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-phasig auf </a:t>
            </a:r>
            <a:r>
              <a:rPr kumimoji="0" lang="de-DE" sz="3600" b="0" i="0" u="none" strike="noStrike" cap="none" spc="0" normalizeH="0" baseline="0" dirty="0">
                <a:ln>
                  <a:noFill/>
                </a:ln>
                <a:solidFill>
                  <a:srgbClr val="4A4A4A"/>
                </a:solidFill>
                <a:effectLst/>
                <a:highlight>
                  <a:srgbClr val="FFFF00"/>
                </a:highlight>
                <a:uFillTx/>
                <a:latin typeface="Avenir Next Medium"/>
                <a:ea typeface="Avenir Next Medium"/>
                <a:cs typeface="Avenir Next Medium"/>
                <a:sym typeface="Avenir Next Medium"/>
              </a:rPr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12548828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Hängebrücke über dem Wasser bei Sonnenuntergang" descr="Hängebrücke über dem Wasser bei Sonnenunterga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7900" b="7900"/>
          <a:stretch>
            <a:fillRect/>
          </a:stretch>
        </p:blipFill>
        <p:spPr>
          <a:xfrm>
            <a:off x="6921471" y="1684139"/>
            <a:ext cx="9669540" cy="10855618"/>
          </a:xfrm>
          <a:prstGeom prst="rect">
            <a:avLst/>
          </a:prstGeom>
        </p:spPr>
      </p:pic>
      <p:sp>
        <p:nvSpPr>
          <p:cNvPr id="202" name="3. Übergabe an den Testaufbau"/>
          <p:cNvSpPr txBox="1">
            <a:spLocks noGrp="1"/>
          </p:cNvSpPr>
          <p:nvPr>
            <p:ph type="title"/>
          </p:nvPr>
        </p:nvSpPr>
        <p:spPr>
          <a:xfrm>
            <a:off x="3257670" y="370942"/>
            <a:ext cx="16997065" cy="2540001"/>
          </a:xfrm>
          <a:prstGeom prst="rect">
            <a:avLst/>
          </a:prstGeom>
        </p:spPr>
        <p:txBody>
          <a:bodyPr/>
          <a:lstStyle>
            <a:lvl1pPr algn="ctr">
              <a:defRPr sz="6000" spc="-60"/>
            </a:lvl1pPr>
          </a:lstStyle>
          <a:p>
            <a:r>
              <a:t>3. Übergabe an den Testaufbau</a:t>
            </a:r>
          </a:p>
        </p:txBody>
      </p:sp>
      <p:sp>
        <p:nvSpPr>
          <p:cNvPr id="203" name="Linien"/>
          <p:cNvSpPr/>
          <p:nvPr/>
        </p:nvSpPr>
        <p:spPr>
          <a:xfrm flipH="1">
            <a:off x="14106855" y="3014133"/>
            <a:ext cx="4629879" cy="385962"/>
          </a:xfrm>
          <a:prstGeom prst="line">
            <a:avLst/>
          </a:prstGeom>
          <a:ln w="101600">
            <a:solidFill>
              <a:srgbClr val="227AA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4" name="Raspberry Pi"/>
          <p:cNvSpPr txBox="1"/>
          <p:nvPr/>
        </p:nvSpPr>
        <p:spPr>
          <a:xfrm>
            <a:off x="18936529" y="2677583"/>
            <a:ext cx="285247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Raspberry Pi </a:t>
            </a:r>
          </a:p>
        </p:txBody>
      </p:sp>
      <p:sp>
        <p:nvSpPr>
          <p:cNvPr id="205" name="Linien"/>
          <p:cNvSpPr/>
          <p:nvPr/>
        </p:nvSpPr>
        <p:spPr>
          <a:xfrm>
            <a:off x="5841908" y="5014845"/>
            <a:ext cx="5432407" cy="306682"/>
          </a:xfrm>
          <a:prstGeom prst="line">
            <a:avLst/>
          </a:prstGeom>
          <a:ln w="101600">
            <a:solidFill>
              <a:srgbClr val="227AA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6" name="Eastron Stromzähler"/>
          <p:cNvSpPr txBox="1"/>
          <p:nvPr/>
        </p:nvSpPr>
        <p:spPr>
          <a:xfrm>
            <a:off x="1349857" y="4636652"/>
            <a:ext cx="432877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Eastron Stromzähler</a:t>
            </a:r>
          </a:p>
        </p:txBody>
      </p:sp>
      <p:sp>
        <p:nvSpPr>
          <p:cNvPr id="207" name="Linien"/>
          <p:cNvSpPr/>
          <p:nvPr/>
        </p:nvSpPr>
        <p:spPr>
          <a:xfrm flipH="1">
            <a:off x="13072418" y="5601619"/>
            <a:ext cx="4308879" cy="1846594"/>
          </a:xfrm>
          <a:prstGeom prst="line">
            <a:avLst/>
          </a:prstGeom>
          <a:ln w="101600">
            <a:solidFill>
              <a:srgbClr val="227AA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8" name="EVSE Laderegler"/>
          <p:cNvSpPr txBox="1"/>
          <p:nvPr/>
        </p:nvSpPr>
        <p:spPr>
          <a:xfrm>
            <a:off x="17581160" y="5283517"/>
            <a:ext cx="362011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EVSE Laderegler</a:t>
            </a:r>
          </a:p>
        </p:txBody>
      </p:sp>
      <p:sp>
        <p:nvSpPr>
          <p:cNvPr id="209" name="Linien"/>
          <p:cNvSpPr/>
          <p:nvPr/>
        </p:nvSpPr>
        <p:spPr>
          <a:xfrm>
            <a:off x="6003277" y="7539176"/>
            <a:ext cx="1961683" cy="1"/>
          </a:xfrm>
          <a:prstGeom prst="line">
            <a:avLst/>
          </a:prstGeom>
          <a:ln w="101600">
            <a:solidFill>
              <a:srgbClr val="227AA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0" name="EV Tester für Typ 2"/>
          <p:cNvSpPr txBox="1"/>
          <p:nvPr/>
        </p:nvSpPr>
        <p:spPr>
          <a:xfrm>
            <a:off x="1538909" y="7177226"/>
            <a:ext cx="395066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EV Tester für Typ 2</a:t>
            </a:r>
          </a:p>
        </p:txBody>
      </p:sp>
      <p:sp>
        <p:nvSpPr>
          <p:cNvPr id="211" name="Linien"/>
          <p:cNvSpPr/>
          <p:nvPr/>
        </p:nvSpPr>
        <p:spPr>
          <a:xfrm flipH="1">
            <a:off x="14875818" y="7448212"/>
            <a:ext cx="2438847" cy="1"/>
          </a:xfrm>
          <a:prstGeom prst="line">
            <a:avLst/>
          </a:prstGeom>
          <a:ln w="101600">
            <a:solidFill>
              <a:srgbClr val="227AA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2" name="Schütz, schaltet nach EVSE…"/>
          <p:cNvSpPr txBox="1"/>
          <p:nvPr/>
        </p:nvSpPr>
        <p:spPr>
          <a:xfrm>
            <a:off x="17466403" y="6915235"/>
            <a:ext cx="4751071" cy="150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200"/>
              </a:spcBef>
              <a:defRPr sz="3000"/>
            </a:pPr>
            <a:r>
              <a:t>Schütz, schaltet nach EVSE</a:t>
            </a:r>
          </a:p>
          <a:p>
            <a:pPr>
              <a:spcBef>
                <a:spcPts val="200"/>
              </a:spcBef>
              <a:defRPr sz="3000"/>
            </a:pPr>
            <a:r>
              <a:t>Kommunikation den </a:t>
            </a:r>
          </a:p>
          <a:p>
            <a:pPr>
              <a:spcBef>
                <a:spcPts val="200"/>
              </a:spcBef>
              <a:defRPr sz="3000"/>
            </a:pPr>
            <a:r>
              <a:t>Strom frei für Typ 2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4. Demonstration der Datenkommunikation"/>
          <p:cNvSpPr txBox="1">
            <a:spLocks noGrp="1"/>
          </p:cNvSpPr>
          <p:nvPr>
            <p:ph type="title"/>
          </p:nvPr>
        </p:nvSpPr>
        <p:spPr>
          <a:xfrm>
            <a:off x="1727200" y="1071845"/>
            <a:ext cx="20929600" cy="3225356"/>
          </a:xfrm>
          <a:prstGeom prst="rect">
            <a:avLst/>
          </a:prstGeom>
        </p:spPr>
        <p:txBody>
          <a:bodyPr/>
          <a:lstStyle/>
          <a:p>
            <a:r>
              <a:t>4. </a:t>
            </a:r>
            <a:r>
              <a:rPr dirty="0"/>
              <a:t>Demonstration der </a:t>
            </a:r>
            <a:r>
              <a:rPr dirty="0" err="1"/>
              <a:t>Datenkommunikation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8B0621-7788-496D-1520-A588D29F7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4297201"/>
            <a:ext cx="8278860" cy="51215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9B6CEA0-94CD-7F70-8713-82C853CEB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499" y="4297200"/>
            <a:ext cx="12577228" cy="54489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5. Abschluss und Zusammenfassung"/>
          <p:cNvSpPr txBox="1">
            <a:spLocks noGrp="1"/>
          </p:cNvSpPr>
          <p:nvPr>
            <p:ph type="title"/>
          </p:nvPr>
        </p:nvSpPr>
        <p:spPr>
          <a:xfrm>
            <a:off x="1727200" y="1071845"/>
            <a:ext cx="20929600" cy="1366602"/>
          </a:xfrm>
          <a:prstGeom prst="rect">
            <a:avLst/>
          </a:prstGeom>
        </p:spPr>
        <p:txBody>
          <a:bodyPr/>
          <a:lstStyle>
            <a:lvl1pPr defTabSz="519937">
              <a:defRPr sz="7654" spc="-76"/>
            </a:lvl1pPr>
          </a:lstStyle>
          <a:p>
            <a:r>
              <a:t>5. Abschluss und Zusammenfassung</a:t>
            </a:r>
          </a:p>
        </p:txBody>
      </p:sp>
      <p:sp>
        <p:nvSpPr>
          <p:cNvPr id="218" name="Der Laderegler kann über Modbus mit dem Raspberry Pi kommunizieren…"/>
          <p:cNvSpPr txBox="1">
            <a:spLocks noGrp="1"/>
          </p:cNvSpPr>
          <p:nvPr>
            <p:ph type="body" idx="1"/>
          </p:nvPr>
        </p:nvSpPr>
        <p:spPr>
          <a:xfrm>
            <a:off x="1727200" y="2753554"/>
            <a:ext cx="18521958" cy="9647052"/>
          </a:xfrm>
          <a:prstGeom prst="rect">
            <a:avLst/>
          </a:prstGeom>
        </p:spPr>
        <p:txBody>
          <a:bodyPr spcCol="926097"/>
          <a:lstStyle/>
          <a:p>
            <a:pPr marL="0" indent="0">
              <a:buNone/>
            </a:pPr>
            <a:r>
              <a:rPr lang="de-DE" u="sng" dirty="0"/>
              <a:t>Was Aktuell funktioniert:</a:t>
            </a:r>
          </a:p>
          <a:p>
            <a:r>
              <a:rPr dirty="0"/>
              <a:t>Der </a:t>
            </a:r>
            <a:r>
              <a:rPr lang="de-DE" dirty="0"/>
              <a:t>Raspberry Pi kann über Modbus mit dem </a:t>
            </a:r>
            <a:r>
              <a:rPr dirty="0" err="1"/>
              <a:t>Laderegler</a:t>
            </a:r>
            <a:r>
              <a:rPr dirty="0"/>
              <a:t> </a:t>
            </a:r>
            <a:r>
              <a:rPr lang="de-DE" dirty="0"/>
              <a:t>kommunizieren</a:t>
            </a:r>
          </a:p>
          <a:p>
            <a:r>
              <a:rPr dirty="0"/>
              <a:t>Node Red </a:t>
            </a:r>
            <a:r>
              <a:rPr dirty="0" err="1"/>
              <a:t>erkennt</a:t>
            </a:r>
            <a:r>
              <a:rPr dirty="0"/>
              <a:t> den </a:t>
            </a:r>
            <a:r>
              <a:rPr dirty="0" err="1"/>
              <a:t>Fahrzeugstatus</a:t>
            </a:r>
            <a:r>
              <a:rPr dirty="0"/>
              <a:t> (</a:t>
            </a:r>
            <a:r>
              <a:rPr dirty="0" err="1"/>
              <a:t>Verbunden</a:t>
            </a:r>
            <a:r>
              <a:rPr dirty="0"/>
              <a:t>, </a:t>
            </a:r>
            <a:r>
              <a:rPr dirty="0" err="1"/>
              <a:t>Lädt</a:t>
            </a:r>
            <a:r>
              <a:rPr dirty="0"/>
              <a:t>, Idee…)</a:t>
            </a:r>
          </a:p>
          <a:p>
            <a:pPr marL="0" indent="0">
              <a:buSzTx/>
              <a:buNone/>
            </a:pPr>
            <a:r>
              <a:rPr u="sng" dirty="0" err="1"/>
              <a:t>Aufkommenden</a:t>
            </a:r>
            <a:r>
              <a:rPr u="sng" dirty="0"/>
              <a:t> </a:t>
            </a:r>
            <a:r>
              <a:rPr u="sng" dirty="0" err="1"/>
              <a:t>Ziele</a:t>
            </a:r>
            <a:r>
              <a:rPr u="sng" dirty="0"/>
              <a:t> des </a:t>
            </a:r>
            <a:r>
              <a:rPr u="sng" dirty="0" err="1"/>
              <a:t>Projektes</a:t>
            </a:r>
            <a:r>
              <a:rPr u="sng" dirty="0"/>
              <a:t>:</a:t>
            </a:r>
          </a:p>
          <a:p>
            <a:r>
              <a:rPr dirty="0" err="1"/>
              <a:t>Messgeräte</a:t>
            </a:r>
            <a:r>
              <a:rPr dirty="0"/>
              <a:t> (</a:t>
            </a:r>
            <a:r>
              <a:rPr dirty="0" err="1"/>
              <a:t>Janitza</a:t>
            </a:r>
            <a:r>
              <a:rPr dirty="0"/>
              <a:t> und </a:t>
            </a:r>
            <a:r>
              <a:rPr dirty="0" err="1"/>
              <a:t>Eastron</a:t>
            </a:r>
            <a:r>
              <a:rPr dirty="0"/>
              <a:t>) </a:t>
            </a:r>
            <a:r>
              <a:rPr dirty="0" err="1"/>
              <a:t>über</a:t>
            </a:r>
            <a:r>
              <a:rPr dirty="0"/>
              <a:t> den </a:t>
            </a:r>
            <a:r>
              <a:rPr dirty="0" err="1"/>
              <a:t>Raspi</a:t>
            </a:r>
            <a:r>
              <a:rPr dirty="0"/>
              <a:t> </a:t>
            </a:r>
            <a:r>
              <a:rPr dirty="0" err="1"/>
              <a:t>auslesen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Node Red  und 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Verarbeiten</a:t>
            </a:r>
            <a:r>
              <a:rPr dirty="0"/>
              <a:t> </a:t>
            </a:r>
          </a:p>
          <a:p>
            <a:r>
              <a:rPr dirty="0"/>
              <a:t>Lade-</a:t>
            </a:r>
            <a:r>
              <a:rPr dirty="0" err="1"/>
              <a:t>Algorithmus</a:t>
            </a:r>
            <a:r>
              <a:rPr dirty="0"/>
              <a:t> </a:t>
            </a:r>
            <a:r>
              <a:rPr dirty="0" err="1"/>
              <a:t>erproben</a:t>
            </a:r>
            <a:r>
              <a:rPr dirty="0"/>
              <a:t> an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Anschlüssen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Testanschlüssen</a:t>
            </a:r>
            <a:r>
              <a:rPr dirty="0"/>
              <a:t> von </a:t>
            </a:r>
            <a:r>
              <a:rPr dirty="0" err="1"/>
              <a:t>bspw</a:t>
            </a:r>
            <a:r>
              <a:rPr dirty="0"/>
              <a:t>. </a:t>
            </a:r>
            <a:r>
              <a:rPr dirty="0" err="1"/>
              <a:t>Glühbirne</a:t>
            </a:r>
            <a:r>
              <a:rPr dirty="0"/>
              <a:t> / </a:t>
            </a:r>
            <a:r>
              <a:rPr dirty="0" err="1"/>
              <a:t>Heizlüfter</a:t>
            </a:r>
            <a:r>
              <a:rPr dirty="0"/>
              <a:t> </a:t>
            </a:r>
          </a:p>
          <a:p>
            <a:r>
              <a:rPr dirty="0" err="1"/>
              <a:t>Übertragen</a:t>
            </a:r>
            <a:r>
              <a:rPr dirty="0"/>
              <a:t> der </a:t>
            </a:r>
            <a:r>
              <a:rPr dirty="0" err="1"/>
              <a:t>Funktionalität</a:t>
            </a:r>
            <a:r>
              <a:rPr dirty="0"/>
              <a:t> auf </a:t>
            </a:r>
            <a:r>
              <a:rPr dirty="0" err="1"/>
              <a:t>Ladesäule</a:t>
            </a:r>
            <a:r>
              <a:rPr dirty="0"/>
              <a:t> in TG</a:t>
            </a:r>
          </a:p>
          <a:p>
            <a:r>
              <a:rPr dirty="0" err="1"/>
              <a:t>Datenempfang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Solarlabor</a:t>
            </a:r>
            <a:r>
              <a:rPr dirty="0"/>
              <a:t> </a:t>
            </a:r>
            <a:r>
              <a:rPr dirty="0" err="1"/>
              <a:t>implementieren</a:t>
            </a:r>
            <a:r>
              <a:rPr dirty="0"/>
              <a:t>, </a:t>
            </a:r>
            <a:r>
              <a:rPr dirty="0" err="1"/>
              <a:t>erproben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D27A279-6F29-E287-B6EE-332FA1C30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2800" y="9149406"/>
            <a:ext cx="4064000" cy="3251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6_FeatureStory">
  <a:themeElements>
    <a:clrScheme name="26_FeatureStory">
      <a:dk1>
        <a:srgbClr val="4A4A4A"/>
      </a:dk1>
      <a:lt1>
        <a:srgbClr val="F0EBE0"/>
      </a:lt1>
      <a:dk2>
        <a:srgbClr val="4A4A4B"/>
      </a:dk2>
      <a:lt2>
        <a:srgbClr val="C2C3C6"/>
      </a:lt2>
      <a:accent1>
        <a:srgbClr val="53BBE0"/>
      </a:accent1>
      <a:accent2>
        <a:srgbClr val="6DCFB9"/>
      </a:accent2>
      <a:accent3>
        <a:srgbClr val="90BF72"/>
      </a:accent3>
      <a:accent4>
        <a:srgbClr val="F2C449"/>
      </a:accent4>
      <a:accent5>
        <a:srgbClr val="FF4741"/>
      </a:accent5>
      <a:accent6>
        <a:srgbClr val="FF8700"/>
      </a:accent6>
      <a:hlink>
        <a:srgbClr val="0000FF"/>
      </a:hlink>
      <a:folHlink>
        <a:srgbClr val="FF00FF"/>
      </a:folHlink>
    </a:clrScheme>
    <a:fontScheme name="26_FeatureStory">
      <a:majorFont>
        <a:latin typeface="Publico Headline Black"/>
        <a:ea typeface="Publico Headline Black"/>
        <a:cs typeface="Publico Headline Black"/>
      </a:majorFont>
      <a:minorFont>
        <a:latin typeface="Publico Headline Black"/>
        <a:ea typeface="Publico Headline Black"/>
        <a:cs typeface="Publico Headline Black"/>
      </a:minorFont>
    </a:fontScheme>
    <a:fmtScheme name="26_Feature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4A4B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2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Publico Text Roman"/>
            <a:ea typeface="Publico Text Roman"/>
            <a:cs typeface="Publico Text Roman"/>
            <a:sym typeface="Publico Text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227AA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600" b="0" i="0" u="none" strike="noStrike" cap="none" spc="0" normalizeH="0" baseline="0">
            <a:ln>
              <a:noFill/>
            </a:ln>
            <a:solidFill>
              <a:srgbClr val="4A4A4A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6_FeatureStory">
  <a:themeElements>
    <a:clrScheme name="26_FeatureStory">
      <a:dk1>
        <a:srgbClr val="000000"/>
      </a:dk1>
      <a:lt1>
        <a:srgbClr val="FFFFFF"/>
      </a:lt1>
      <a:dk2>
        <a:srgbClr val="4A4A4B"/>
      </a:dk2>
      <a:lt2>
        <a:srgbClr val="C2C3C6"/>
      </a:lt2>
      <a:accent1>
        <a:srgbClr val="53BBE0"/>
      </a:accent1>
      <a:accent2>
        <a:srgbClr val="6DCFB9"/>
      </a:accent2>
      <a:accent3>
        <a:srgbClr val="90BF72"/>
      </a:accent3>
      <a:accent4>
        <a:srgbClr val="F2C449"/>
      </a:accent4>
      <a:accent5>
        <a:srgbClr val="FF4741"/>
      </a:accent5>
      <a:accent6>
        <a:srgbClr val="FF8700"/>
      </a:accent6>
      <a:hlink>
        <a:srgbClr val="0000FF"/>
      </a:hlink>
      <a:folHlink>
        <a:srgbClr val="FF00FF"/>
      </a:folHlink>
    </a:clrScheme>
    <a:fontScheme name="26_FeatureStory">
      <a:majorFont>
        <a:latin typeface="Publico Headline Black"/>
        <a:ea typeface="Publico Headline Black"/>
        <a:cs typeface="Publico Headline Black"/>
      </a:majorFont>
      <a:minorFont>
        <a:latin typeface="Publico Headline Black"/>
        <a:ea typeface="Publico Headline Black"/>
        <a:cs typeface="Publico Headline Black"/>
      </a:minorFont>
    </a:fontScheme>
    <a:fmtScheme name="26_Feature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4A4B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2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Publico Text Roman"/>
            <a:ea typeface="Publico Text Roman"/>
            <a:cs typeface="Publico Text Roman"/>
            <a:sym typeface="Publico Text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227AA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kumimoji="0" sz="3600" b="0" i="0" u="none" strike="noStrike" cap="none" spc="0" normalizeH="0" baseline="0">
            <a:ln>
              <a:noFill/>
            </a:ln>
            <a:solidFill>
              <a:srgbClr val="4A4A4A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Macintosh PowerPoint</Application>
  <PresentationFormat>Benutzerdefiniert</PresentationFormat>
  <Paragraphs>73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Avenir Next Medium</vt:lpstr>
      <vt:lpstr>Helvetica Neue</vt:lpstr>
      <vt:lpstr>Publico Headline Black</vt:lpstr>
      <vt:lpstr>Publico Headline Roman</vt:lpstr>
      <vt:lpstr>Publico Text Roman</vt:lpstr>
      <vt:lpstr>Publico Text Semibold</vt:lpstr>
      <vt:lpstr>26_FeatureStory</vt:lpstr>
      <vt:lpstr>Projekt Lademanagement </vt:lpstr>
      <vt:lpstr>Agenda-LAMA</vt:lpstr>
      <vt:lpstr>1. Einführung Projekt und Zielsetzung   </vt:lpstr>
      <vt:lpstr>Simulation</vt:lpstr>
      <vt:lpstr>PowerPoint-Präsentation</vt:lpstr>
      <vt:lpstr>PowerPoint-Präsentation</vt:lpstr>
      <vt:lpstr>3. Übergabe an den Testaufbau</vt:lpstr>
      <vt:lpstr>4. Demonstration der Datenkommunikation</vt:lpstr>
      <vt:lpstr>5. Abschluss und Zusammenfassung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 Häusler</cp:lastModifiedBy>
  <cp:revision>4</cp:revision>
  <dcterms:modified xsi:type="dcterms:W3CDTF">2024-11-14T08:27:05Z</dcterms:modified>
</cp:coreProperties>
</file>